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Churn Rate by Geography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Germany</c:v>
                  </c:pt>
                  <c:pt idx="1">
                    <c:v>France</c:v>
                  </c:pt>
                  <c:pt idx="2">
                    <c:v>Spain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32.4</c:v>
                </c:pt>
                <c:pt idx="1">
                  <c:v>16.2</c:v>
                </c:pt>
                <c:pt idx="2">
                  <c:v>16.7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Churn Rate by # Products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 Product</c:v>
                  </c:pt>
                  <c:pt idx="1">
                    <c:v>2 Products</c:v>
                  </c:pt>
                  <c:pt idx="2">
                    <c:v>3 Products</c:v>
                  </c:pt>
                  <c:pt idx="3">
                    <c:v>4 Products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27.7</c:v>
                </c:pt>
                <c:pt idx="1">
                  <c:v>7.6</c:v>
                </c:pt>
                <c:pt idx="2">
                  <c:v>82.7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ROC-AUC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 ✅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0.77</c:v>
                </c:pt>
                <c:pt idx="1">
                  <c:v>0.86</c:v>
                </c:pt>
                <c:pt idx="2">
                  <c:v>0.88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Features — XGBoost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46E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Age</c:v>
                  </c:pt>
                  <c:pt idx="1">
                    <c:v>NumOfProducts</c:v>
                  </c:pt>
                  <c:pt idx="2">
                    <c:v>IsActiveMember</c:v>
                  </c:pt>
                  <c:pt idx="3">
                    <c:v>Balance</c:v>
                  </c:pt>
                  <c:pt idx="4">
                    <c:v>Geography_DE</c:v>
                  </c:pt>
                  <c:pt idx="5">
                    <c:v>CreditScore</c:v>
                  </c:pt>
                  <c:pt idx="6">
                    <c:v>Gender</c:v>
                  </c:pt>
                  <c:pt idx="7">
                    <c:v>Tenure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0.28</c:v>
                </c:pt>
                <c:pt idx="1">
                  <c:v>0.22</c:v>
                </c:pt>
                <c:pt idx="2">
                  <c:v>0.15</c:v>
                </c:pt>
                <c:pt idx="3">
                  <c:v>0.1</c:v>
                </c:pt>
                <c:pt idx="4">
                  <c:v>0.08</c:v>
                </c:pt>
                <c:pt idx="5">
                  <c:v>0.05</c:v>
                </c:pt>
                <c:pt idx="6">
                  <c:v>0.04</c:v>
                </c:pt>
                <c:pt idx="7">
                  <c:v>0.03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560320"/>
            <a:ext cx="2011680" cy="201168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005840" cy="1005840"/>
          </a:xfrm>
          <a:prstGeom prst="rect">
            <a:avLst>
              <a:gd name="adj" fmla="val 13636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502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🏦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Customer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Project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1463040" cy="384048"/>
          </a:xfrm>
          <a:prstGeom prst="rect">
            <a:avLst/>
          </a:prstGeom>
          <a:solidFill>
            <a:srgbClr val="4F46E5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XGBoost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48840" y="3749040"/>
            <a:ext cx="1463040" cy="384048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4884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SMOTE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0" y="3749040"/>
            <a:ext cx="1463040" cy="384048"/>
          </a:xfrm>
          <a:prstGeom prst="rect">
            <a:avLst/>
          </a:prstGeom>
          <a:solidFill>
            <a:srgbClr val="F59E0B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532120" y="3749040"/>
            <a:ext cx="1463040" cy="384048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37490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Streamlit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Shady Adief  •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📌  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920240" cy="2560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10,000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60120"/>
            <a:ext cx="1920240" cy="2560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14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9601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60120"/>
            <a:ext cx="192024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20.4%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Churn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9601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960120"/>
            <a:ext cx="19202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66560" y="17373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2148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ML Models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606040"/>
            <a:ext cx="850392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 Problem Statement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3108960"/>
            <a:ext cx="85039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315468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البنك بيخسر عملاء كل شهر بدون سابق إنذار. المشروع بيستخدم Machine Learning عشان يتنبأ مين من العملاء على وشك يسيب البنك — مما يُمكّن فريق الـ Retention من التدخل مسبقاً بعروض مخصصة قبل ما الـ Churn يحصل.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Bank Customer Churn Prediction  •  Shady Adief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⚙️  ML Pipeline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508760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Data Loading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CSV → pandas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Drop ID cols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1828800"/>
            <a:ext cx="21031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828800" y="182880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39112" y="960120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960120"/>
            <a:ext cx="150876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039112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39112" y="12801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039112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39112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Encoding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Scaling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7872" y="1828800"/>
            <a:ext cx="21031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547872" y="182880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58184" y="960120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58184" y="960120"/>
            <a:ext cx="150876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758184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58184" y="12801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⚖️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758184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SMOTE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58184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Handle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Imbalance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66944" y="1828800"/>
            <a:ext cx="21031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5266944" y="182880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77256" y="960120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77256" y="960120"/>
            <a:ext cx="15087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477256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77256" y="12801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477256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Training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77256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LR / RF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XGBoost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86016" y="1828800"/>
            <a:ext cx="210312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6986016" y="1828800"/>
            <a:ext cx="210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96328" y="960120"/>
            <a:ext cx="1508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196328" y="960120"/>
            <a:ext cx="150876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7196328" y="960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Step 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96328" y="128016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96328" y="1874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Evaluation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96328" y="22402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AUC / F1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SHAP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3200400"/>
            <a:ext cx="8503920" cy="4572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200400"/>
            <a:ext cx="73152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💡  ليه Pipeline؟  —  يمنع Data Leakage ويضمن إن الـ preprocessing يتطبق بنفس الطريقة على Train و Test data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" y="3840480"/>
            <a:ext cx="4114800" cy="91440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840480"/>
            <a:ext cx="73152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❌  بدون Pipeline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8640" y="41330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Scaler يشوف Test data أثناء الـ fit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النتائج كدابة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09160" y="3840480"/>
            <a:ext cx="4114800" cy="91440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84048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✅  مع Pipeline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37760" y="413308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fit على Train بس، transform على 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→ نتائج موثوقة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4" name="Text 5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Bank Customer Churn Prediction  •  Shady Adief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🔍  Key EDA Insights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1440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09160" y="91440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33756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20040" y="3337560"/>
            <a:ext cx="26974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4"/>
          <p:cNvSpPr/>
          <p:nvPr/>
        </p:nvSpPr>
        <p:spPr>
          <a:xfrm>
            <a:off x="320040" y="3337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👴  العمر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20040" y="361188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45-60 سنة = أعلى Churn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200400" y="333756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3337560"/>
            <a:ext cx="269748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8"/>
          <p:cNvSpPr/>
          <p:nvPr/>
        </p:nvSpPr>
        <p:spPr>
          <a:xfrm>
            <a:off x="3200400" y="3337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🇩🇪  ألمانيا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200400" y="361188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32% Churn vs 16% غيرها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80760" y="3337560"/>
            <a:ext cx="26974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0760" y="3337560"/>
            <a:ext cx="269748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2"/>
          <p:cNvSpPr/>
          <p:nvPr/>
        </p:nvSpPr>
        <p:spPr>
          <a:xfrm>
            <a:off x="6080760" y="3337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Active Member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080760" y="361188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النشطاء أقل Churn بكتير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Bank Customer Churn Prediction  •  Shady Adief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🤖  Model Results &amp; Comparison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144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914400"/>
            <a:ext cx="4114800" cy="384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0" y="9144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79008" y="9144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03136" y="9144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27264" y="9144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298448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4754880" y="12984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Log. Reg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79008" y="12984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81%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03136" y="12984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0.77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827264" y="12984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0.57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1755648"/>
            <a:ext cx="41148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754880" y="17556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Rand. Forest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79008" y="17556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86%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03136" y="17556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0.86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27264" y="17556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0.71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2212848"/>
            <a:ext cx="4114800" cy="4572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22128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XGBoost ✅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79008" y="22128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87%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803136" y="22128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0.88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27264" y="2212848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0.74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2743200"/>
            <a:ext cx="4114800" cy="77724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274320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4"/>
          <p:cNvSpPr/>
          <p:nvPr/>
        </p:nvSpPr>
        <p:spPr>
          <a:xfrm>
            <a:off x="4983480" y="2761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🏆  ليه XGBoost الأفضل؟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83480" y="3035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Gradient Boosting + SMOTE → أحسن في التعامل مع Class Imbalance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" y="3611880"/>
            <a:ext cx="8503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0040" y="3611880"/>
            <a:ext cx="73152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" y="36301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⚖️  SMOTE — Synthetic Minority Oversampling Technique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48640" y="392277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الداتا فيها Class Imbalance (20% Churn فقط). SMOTE بيعمل synthetic samples للـ minority class عشان الموديل ميبقاش biased ناحية الـ majority.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Bank Customer Churn Prediction  •  Shady Adief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🔑  Feature Importance &amp; Recommendation System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9144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3"/>
          <p:cNvSpPr/>
          <p:nvPr/>
        </p:nvSpPr>
        <p:spPr>
          <a:xfrm>
            <a:off x="47091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 Smart Recommendation Engine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09160" y="1389888"/>
            <a:ext cx="41148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09160" y="1389888"/>
            <a:ext cx="73152" cy="5120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4892040" y="1408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🎁  إذا: مش Active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92040" y="16276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5% CashBack لمدة 3 شهور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975104"/>
            <a:ext cx="41148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975104"/>
            <a:ext cx="73152" cy="5120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9933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💳  إذا: منتج واحد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92040" y="2212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Credit Card مجاني السنة الأولى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09160" y="2560320"/>
            <a:ext cx="41148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560320"/>
            <a:ext cx="73152" cy="5120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2578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📈  إذا: Balance &gt; 100K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92040" y="27980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High-Yield Savings 8%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09160" y="3145536"/>
            <a:ext cx="41148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3145536"/>
            <a:ext cx="73152" cy="5120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4892040" y="31638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🏦  إذا: عمر &gt; 50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33832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Retirement Investment Plan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09160" y="3730752"/>
            <a:ext cx="411480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3730752"/>
            <a:ext cx="73152" cy="5120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4892040" y="3749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🇩🇪  إذا: ألمانيا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 Germany Exclusive Loyalty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Bank Customer Churn Prediction  •  Shady Adief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🚀  Streamlit App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977640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🏠  Home Page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نظرة عامة على المشروع والـ Tech Stack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397764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60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EDA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28016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رسوم بيانية تفاعلية لاستكشاف الداتا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80360"/>
            <a:ext cx="397764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8803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🔮  Churn Predictor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20040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إدخال بيانات عميل والتنبؤ الفوري + عروض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397764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80360"/>
            <a:ext cx="39776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8803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📈  Model Insights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200400"/>
            <a:ext cx="3977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مقارنة الموديلات وأهمية الـ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Bank Customer Churn Prediction  •  Shady Adief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F46E5">
              <a:alpha val="15000"/>
            </a:srgbClr>
          </a:solidFill>
          <a:ln w="12700">
            <a:solidFill>
              <a:srgbClr val="4F46E5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320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97280" y="1828800"/>
            <a:ext cx="694944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828800"/>
            <a:ext cx="73152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87452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XGBoost + SMOTE → AUC = 0.88  |  Accuracy = 87%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487168"/>
            <a:ext cx="694944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2487168"/>
            <a:ext cx="73152" cy="5303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2532888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🔑  أهم العوامل: العمر، عدد المنتجات، الـ Active Membership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145536"/>
            <a:ext cx="694944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7280" y="3145536"/>
            <a:ext cx="73152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3191256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💡  Recommendation Engine مخصص لكل عميل معرّض للـ Churn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803904"/>
            <a:ext cx="6949440" cy="530352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3803904"/>
            <a:ext cx="73152" cy="5303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3849624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🚀  Streamlit App تفاعلية مع 3 صفحات وـ Real-time Predictions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Shady Adief  •  github.com/Shadyadief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Churn Prediction</dc:title>
  <dc:subject>PptxGenJS Presentation</dc:subject>
  <dc:creator>Shady Adief</dc:creator>
  <cp:lastModifiedBy>Shady Adief</cp:lastModifiedBy>
  <cp:revision>1</cp:revision>
  <dcterms:created xsi:type="dcterms:W3CDTF">2026-03-07T14:22:36Z</dcterms:created>
  <dcterms:modified xsi:type="dcterms:W3CDTF">2026-03-07T14:22:36Z</dcterms:modified>
</cp:coreProperties>
</file>